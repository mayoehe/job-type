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014047a1634051" /><Relationship Type="http://schemas.openxmlformats.org/officeDocument/2006/relationships/extended-properties" Target="/docProps/app.xml" Id="Rac51f34fe0254c1d" /><Relationship Type="http://schemas.openxmlformats.org/officeDocument/2006/relationships/officeDocument" Target="/ppt/presentation.xml" Id="R40b29112789b4f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3e98a9772c44c0"/>
  </p:sldMasterIdLst>
  <p:notesMasterIdLst>
    <p:notesMasterId xmlns:r="http://schemas.openxmlformats.org/officeDocument/2006/relationships" r:id="R632df7041a614e93"/>
  </p:notesMasterIdLst>
  <p:sldIdLst>
    <p:sldId xmlns:r="http://schemas.openxmlformats.org/officeDocument/2006/relationships" id="256" r:id="R39aa65629331435c"/>
  </p:sldIdLst>
  <p:sldSz cx="10692003" cy="1511998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d5f0804b064992" /><Relationship Type="http://schemas.openxmlformats.org/officeDocument/2006/relationships/slideMaster" Target="/ppt/slideMasters/slideMaster1.xml" Id="Rbc3e98a9772c44c0" /><Relationship Type="http://schemas.openxmlformats.org/officeDocument/2006/relationships/notesMaster" Target="/ppt/notesMasters/notesMaster1.xml" Id="R632df7041a614e93" /><Relationship Type="http://schemas.openxmlformats.org/officeDocument/2006/relationships/presProps" Target="/ppt/presProps.xml" Id="Rbc95443ef3ce496c" /><Relationship Type="http://schemas.openxmlformats.org/officeDocument/2006/relationships/tableStyles" Target="/ppt/tableStyles.xml" Id="R29a7c6623b284913" /><Relationship Type="http://schemas.openxmlformats.org/officeDocument/2006/relationships/slide" Target="/ppt/slides/slide1.xml" Id="R39aa6562933143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2ac10b104243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5370dae041446c" /><Relationship Type="http://schemas.openxmlformats.org/officeDocument/2006/relationships/notesMaster" Target="/ppt/notesMasters/notesMaster1.xml" Id="R530afcac950849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0a31bcfdfb4b2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2119f695fc4ac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cc370b528d4e4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1fb49b815942f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c3b92a00d44c1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af837f67154d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DA37EB-11B2-489B-A232-1E8CA959A1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9200" y="5711994"/>
            <a:ext cx="8553602" cy="2183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1525AD1-49FF-4047-8BA5-9FDC138196E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03800" y="8315992"/>
            <a:ext cx="7484402" cy="1679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09CFAAB-9066-4F3B-AE75-0469A893EE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9200" y="6299994"/>
            <a:ext cx="8553602" cy="2519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8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53E3AA-BBBF-4E01-A098-D8901EF276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1425" y="1175999"/>
            <a:ext cx="9489153" cy="1847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4BF1806-D84E-479B-B2EE-B3D7D22ABE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1425" y="4199996"/>
            <a:ext cx="9489153" cy="9407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1pPr>
            <a:lvl2pPr marL="4677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2pPr>
            <a:lvl3pPr marL="7350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3pPr>
            <a:lvl4pPr marL="10023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4pPr>
            <a:lvl5pPr marL="12696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5pPr>
            <a:lvl6pPr marL="15369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6pPr>
            <a:lvl7pPr marL="1804276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7pPr>
            <a:lvl8pPr marL="2071576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8pPr>
            <a:lvl9pPr marL="2338876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8369B7-5463-4331-A13C-D8BFE72CDA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1425" y="1175999"/>
            <a:ext cx="9489153" cy="1847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9A6E8C-D5ED-40B7-8D4C-DE5BFB75A0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1425" y="4199996"/>
            <a:ext cx="4410451" cy="9407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1pPr>
            <a:lvl2pPr marL="4677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2pPr>
            <a:lvl3pPr marL="7350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3pPr>
            <a:lvl4pPr marL="10023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4pPr>
            <a:lvl5pPr marL="12696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5pPr>
            <a:lvl6pPr marL="15369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6pPr>
            <a:lvl7pPr marL="1804276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7pPr>
            <a:lvl8pPr marL="2071576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8pPr>
            <a:lvl9pPr marL="2338876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82CCACC-7183-4CB0-A7CE-D89C1ECED6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680127" y="4199996"/>
            <a:ext cx="4410451" cy="9407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4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1pPr>
            <a:lvl2pPr marL="4677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2pPr>
            <a:lvl3pPr marL="7350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3pPr>
            <a:lvl4pPr marL="10023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4pPr>
            <a:lvl5pPr marL="12696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5pPr>
            <a:lvl6pPr marL="15369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6pPr>
            <a:lvl7pPr marL="1804276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7pPr>
            <a:lvl8pPr marL="2071576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8pPr>
            <a:lvl9pPr marL="2338876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00FFD4-134E-4A37-9530-8290708E48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1425" y="1175999"/>
            <a:ext cx="9489153" cy="1847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5E955B5-5BEC-4240-B29B-C24AD14683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1425" y="4199996"/>
            <a:ext cx="4410451" cy="94079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4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1pPr>
            <a:lvl2pPr marL="4677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2pPr>
            <a:lvl3pPr marL="7350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3pPr>
            <a:lvl4pPr marL="10023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4pPr>
            <a:lvl5pPr marL="12696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5pPr>
            <a:lvl6pPr marL="1536975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6pPr>
            <a:lvl7pPr marL="1804276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7pPr>
            <a:lvl8pPr marL="2071576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8pPr>
            <a:lvl9pPr marL="2338876" indent="-200475">
              <a:lnSpc>
                <a:spcPct val="110000"/>
              </a:lnSpc>
              <a:spcBef>
                <a:spcPts val="0"/>
              </a:spcBef>
              <a:spcAft>
                <a:spcPts val="1052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b941d681ce4f9b" /><Relationship Type="http://schemas.openxmlformats.org/officeDocument/2006/relationships/slideLayout" Target="/ppt/slideLayouts/slideLayout1.xml" Id="R5861f0ef42e54d9d" /><Relationship Type="http://schemas.openxmlformats.org/officeDocument/2006/relationships/slideLayout" Target="/ppt/slideLayouts/slideLayout2.xml" Id="Ra7ee8c76ebab4f94" /><Relationship Type="http://schemas.openxmlformats.org/officeDocument/2006/relationships/slideLayout" Target="/ppt/slideLayouts/slideLayout3.xml" Id="R7aa40956a1cb4bba" /><Relationship Type="http://schemas.openxmlformats.org/officeDocument/2006/relationships/slideLayout" Target="/ppt/slideLayouts/slideLayout4.xml" Id="R1821daf23c114c2c" /><Relationship Type="http://schemas.openxmlformats.org/officeDocument/2006/relationships/slideLayout" Target="/ppt/slideLayouts/slideLayout5.xml" Id="Rd58770daef604141" /><Relationship Type="http://schemas.openxmlformats.org/officeDocument/2006/relationships/slideLayout" Target="/ppt/slideLayouts/slideLayout6.xml" Id="Rc512bbedbf9848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61f0ef42e54d9d"/>
    <p:sldLayoutId xmlns:r="http://schemas.openxmlformats.org/officeDocument/2006/relationships" id="2147483650" r:id="Ra7ee8c76ebab4f94"/>
    <p:sldLayoutId xmlns:r="http://schemas.openxmlformats.org/officeDocument/2006/relationships" id="2147483651" r:id="R7aa40956a1cb4bba"/>
    <p:sldLayoutId xmlns:r="http://schemas.openxmlformats.org/officeDocument/2006/relationships" id="2147483652" r:id="R1821daf23c114c2c"/>
    <p:sldLayoutId xmlns:r="http://schemas.openxmlformats.org/officeDocument/2006/relationships" id="2147483653" r:id="Rd58770daef604141"/>
    <p:sldLayoutId xmlns:r="http://schemas.openxmlformats.org/officeDocument/2006/relationships" id="2147483654" r:id="Rc512bbedbf9848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0d7f5a6a9c4f8b" /><Relationship Type="http://schemas.openxmlformats.org/officeDocument/2006/relationships/image" Target="/ppt/media/image.png" Id="Rfa3a27ffefc14cb3" /><Relationship Type="http://schemas.openxmlformats.org/officeDocument/2006/relationships/notesSlide" Target="/ppt/notesSlides/notesSlide1.xml" Id="Ra71ee382dd024b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4EBCD78-BE60-4C0D-9AC6-F9A7EDCC51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3a27ffefc14cb3"/>
          <a:stretch xmlns:a="http://schemas.openxmlformats.org/drawingml/2006/main"/>
        </p:blipFill>
        <p:spPr>
          <a:xfrm xmlns:a="http://schemas.openxmlformats.org/drawingml/2006/main">
            <a:off x="0" y="73"/>
            <a:ext cx="10692003" cy="176197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3AAF8F-24C4-41B8-8287-A4994A684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958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37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7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JOBSHIELD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9D9A7F-66CF-4DB9-89CF-E61A6D45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>
                <a:solidFill>
                  <a:srgbClr val="2763A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763A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763A5"/>
                </a:solidFill>
                <a:latin typeface="Arial"/>
                <a:ea typeface="Arial"/>
                <a:cs typeface="Arial"/>
              </a:rPr>
              <a:t>Behaviour-First Job Phishing Scanner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243A53-D030-4608-A8B2-8130EDA2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76575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5368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53688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883"/>
                </a:solidFill>
                <a:latin typeface="Arial"/>
                <a:ea typeface="Arial"/>
                <a:cs typeface="Arial"/>
              </a:rPr>
              <a:t>Tanmay Vankhede  •  Mayuresh Mahale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7A35C3-185E-4308-B006-FC9A7B83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0450"/>
            <a:ext cx="9544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93B8"/>
          </a:solidFill>
          <a:ln xmlns:a="http://schemas.openxmlformats.org/drawingml/2006/main" w="0">
            <a:solidFill>
              <a:srgbClr val="1C93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4F32F4-7BF1-4097-976A-D19E0A93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2907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93B8"/>
          </a:solidFill>
          <a:ln xmlns:a="http://schemas.openxmlformats.org/drawingml/2006/main" w="0">
            <a:solidFill>
              <a:srgbClr val="1C93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CF76F3-D6D9-4CB7-A921-8DA28EFA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00500"/>
            <a:ext cx="2638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INTRODUCTION &amp; OBJECTIVE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682388-161A-45CE-BBCA-3B831BEB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00550"/>
            <a:ext cx="28003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2537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5375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53752"/>
                </a:solidFill>
                <a:latin typeface="Arial"/>
                <a:ea typeface="Arial"/>
                <a:cs typeface="Arial"/>
              </a:rPr>
              <a:t>JobShield helps jobseekers assess suspicious job listings and recruiter messages before sharing money or sensitive information. It combines text and URL evidence, then explains the risks and safer next steps.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F3BBBF-858C-454C-9CA3-22E7B187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93B8"/>
          </a:solidFill>
          <a:ln xmlns:a="http://schemas.openxmlformats.org/drawingml/2006/main" w="0">
            <a:solidFill>
              <a:srgbClr val="1C93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75100B-F26F-49E3-A4B6-87BAC297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324600"/>
            <a:ext cx="2638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PROBLEM STATEMENT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230FBC-C7B9-4E19-B0A7-3802A24F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724650"/>
            <a:ext cx="28003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2537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5375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53752"/>
                </a:solidFill>
                <a:latin typeface="Arial"/>
                <a:ea typeface="Arial"/>
                <a:cs typeface="Arial"/>
              </a:rPr>
              <a:t>Lookalike recruitment portals can exploit urgent job searches to collect Aadhaar, PAN, bank details, OTPs or fees. A polished site may still be fraudulent: scammers can use HTTPS and aged domains. Technical checks alone can create false reassurance.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5B129C-8E89-4F95-B2DA-FBDC42D0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9162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93B8"/>
          </a:solidFill>
          <a:ln xmlns:a="http://schemas.openxmlformats.org/drawingml/2006/main" w="0">
            <a:solidFill>
              <a:srgbClr val="1C93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847806-9E18-4D9B-A240-F0846944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9163050"/>
            <a:ext cx="2638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71D0CF-707F-4A04-94C7-D0F40143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63100"/>
            <a:ext cx="28003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2537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5375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53752"/>
                </a:solidFill>
                <a:latin typeface="Arial"/>
                <a:ea typeface="Arial"/>
                <a:cs typeface="Arial"/>
              </a:rPr>
              <a:t>A transparent, behaviour-first score can keep strong recruitment fraud signals visible even when a domain appears technically clean. Evidence-linked findings and practical guidance help users decide what to verify before applying.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D1BD58-5016-4348-942A-BB5FE8E2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5857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93B8"/>
          </a:solidFill>
          <a:ln xmlns:a="http://schemas.openxmlformats.org/drawingml/2006/main" w="0">
            <a:solidFill>
              <a:srgbClr val="1C93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26E09F-2D5B-48EC-9E94-EA91ACEB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1430000"/>
            <a:ext cx="2638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FUTURE SCOPE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DCE9A5-A807-438F-91AE-988E716C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830050"/>
            <a:ext cx="28003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0">
                <a:solidFill>
                  <a:srgbClr val="2537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25375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53752"/>
                </a:solidFill>
                <a:latin typeface="Arial"/>
                <a:ea typeface="Arial"/>
                <a:cs typeface="Arial"/>
              </a:rPr>
              <a:t>• Evaluate on diverse, consented real-world listings</a:t>
            </a:r>
          </a:p>
          <a:p xmlns:a="http://schemas.openxmlformats.org/drawingml/2006/main">
            <a:pPr algn="l">
              <a:defRPr sz="1425" b="0">
                <a:solidFill>
                  <a:srgbClr val="25375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53752"/>
                </a:solidFill>
                <a:latin typeface="Arial"/>
                <a:ea typeface="Arial"/>
                <a:cs typeface="Arial"/>
              </a:rPr>
              <a:t>• Expand Hindi, Marathi and code-mixed coverage</a:t>
            </a:r>
          </a:p>
          <a:p xmlns:a="http://schemas.openxmlformats.org/drawingml/2006/main">
            <a:pPr algn="l">
              <a:defRPr sz="1425" b="0">
                <a:solidFill>
                  <a:srgbClr val="25375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53752"/>
                </a:solidFill>
                <a:latin typeface="Arial"/>
                <a:ea typeface="Arial"/>
                <a:cs typeface="Arial"/>
              </a:rPr>
              <a:t>• Add optional, timestamped reputation and domain-age feeds</a:t>
            </a:r>
          </a:p>
          <a:p xmlns:a="http://schemas.openxmlformats.org/drawingml/2006/main">
            <a:pPr algn="l">
              <a:defRPr sz="1425" b="0">
                <a:solidFill>
                  <a:srgbClr val="25375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53752"/>
                </a:solidFill>
                <a:latin typeface="Arial"/>
                <a:ea typeface="Arial"/>
                <a:cs typeface="Arial"/>
              </a:rPr>
              <a:t>• Improve official vacancy corroboration</a:t>
            </a:r>
          </a:p>
          <a:p xmlns:a="http://schemas.openxmlformats.org/drawingml/2006/main">
            <a:pPr algn="l">
              <a:defRPr sz="1425" b="0">
                <a:solidFill>
                  <a:srgbClr val="25375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253752"/>
                </a:solidFill>
                <a:latin typeface="Arial"/>
                <a:ea typeface="Arial"/>
                <a:cs typeface="Arial"/>
              </a:rPr>
              <a:t>• Test usability and reduce false alarms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71176E-6A1E-4ABC-9F3C-192BF044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2907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93B8"/>
          </a:solidFill>
          <a:ln xmlns:a="http://schemas.openxmlformats.org/drawingml/2006/main" w="0">
            <a:solidFill>
              <a:srgbClr val="1C93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80E28E-1534-4D4E-9231-C6D4921D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4000500"/>
            <a:ext cx="2638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63F67E-04BC-495F-BD33-23786812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00550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2537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5375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53752"/>
                </a:solidFill>
                <a:latin typeface="Arial"/>
                <a:ea typeface="Arial"/>
                <a:cs typeface="Arial"/>
              </a:rPr>
              <a:t>Online API and offline browser fallback share one scoring model.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EF373D-AD0B-4BB5-B9F5-C1EE206F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53000"/>
            <a:ext cx="2609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2763A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F3C809-8717-4A7F-B77F-6FD02F75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5300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3A5"/>
          </a:solidFill>
          <a:ln xmlns:a="http://schemas.openxmlformats.org/drawingml/2006/main" w="0">
            <a:solidFill>
              <a:srgbClr val="2763A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150BA1-B212-4E36-990E-4C6742BF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019675"/>
            <a:ext cx="2362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37203D-FFED-42B7-8ACE-2DE5299A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229225"/>
            <a:ext cx="236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2537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5375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53752"/>
                </a:solidFill>
                <a:latin typeface="Arial"/>
                <a:ea typeface="Arial"/>
                <a:cs typeface="Arial"/>
              </a:rPr>
              <a:t>Job URL + listing, or recruiter message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066FB3-C758-4185-98D7-0A225BE0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56292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1">
                <a:solidFill>
                  <a:srgbClr val="1C93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C93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C93B8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581871-F4C8-4C6F-9EC1-F2966B2E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715000"/>
            <a:ext cx="2609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6F5F8"/>
          </a:solidFill>
          <a:ln xmlns:a="http://schemas.openxmlformats.org/drawingml/2006/main" w="9525">
            <a:solidFill>
              <a:srgbClr val="1C93B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EC1A3F-F486-4503-9C10-461DA8A3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71500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93B8"/>
          </a:solidFill>
          <a:ln xmlns:a="http://schemas.openxmlformats.org/drawingml/2006/main" w="0">
            <a:solidFill>
              <a:srgbClr val="1C93B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F023B6-DCA2-4A2A-AFE5-8DDE7560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781675"/>
            <a:ext cx="2362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REACT + TYPESCRIPT UI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85AD44-6EBC-4494-8FD4-F9719E621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991225"/>
            <a:ext cx="236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2537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5375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53752"/>
                </a:solidFill>
                <a:latin typeface="Arial"/>
                <a:ea typeface="Arial"/>
                <a:cs typeface="Arial"/>
              </a:rPr>
              <a:t>Vite frontend • local history in browser storage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2EA312-7A1E-4447-80B0-7E56E20E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63912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1">
                <a:solidFill>
                  <a:srgbClr val="1C93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C93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C93B8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45E71F-9DC4-48AC-926B-D76C6C49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6477000"/>
            <a:ext cx="2609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2763A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BD6E99-A566-40C3-A867-AAF47807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647700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3A5"/>
          </a:solidFill>
          <a:ln xmlns:a="http://schemas.openxmlformats.org/drawingml/2006/main" w="0">
            <a:solidFill>
              <a:srgbClr val="2763A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048B0F-F5B6-46E1-9D9F-10F82501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543675"/>
            <a:ext cx="2362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EXPRESS API (OPTIONAL)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62CA6E-4809-4E31-BBFE-C8FB0E3E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753225"/>
            <a:ext cx="236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2537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5375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53752"/>
                </a:solidFill>
                <a:latin typeface="Arial"/>
                <a:ea typeface="Arial"/>
                <a:cs typeface="Arial"/>
              </a:rPr>
              <a:t>POST /api/scan  •  POST /api/message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6DE8BC-E747-4A31-A6DB-6BAF81B5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71532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1">
                <a:solidFill>
                  <a:srgbClr val="1C93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C93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C93B8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D68873-7E7C-4D6D-BA93-89061CFC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7239000"/>
            <a:ext cx="2609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2DF"/>
          </a:solidFill>
          <a:ln xmlns:a="http://schemas.openxmlformats.org/drawingml/2006/main" w="9525">
            <a:solidFill>
              <a:srgbClr val="F2A33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8AB7D9-CEA8-4351-BE8D-25FB065EA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723900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33A"/>
          </a:solidFill>
          <a:ln xmlns:a="http://schemas.openxmlformats.org/drawingml/2006/main" w="0">
            <a:solidFill>
              <a:srgbClr val="F2A33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830DDE-9CF6-43F7-A83D-F07ECC03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7305675"/>
            <a:ext cx="2362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ANALYSIS LAYERS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2442F5-D7D8-454D-B4B9-78764DED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7515225"/>
            <a:ext cx="236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2537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5375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53752"/>
                </a:solidFill>
                <a:latin typeface="Arial"/>
                <a:ea typeface="Arial"/>
                <a:cs typeface="Arial"/>
              </a:rPr>
              <a:t>Safe URL inspection + four detector groups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525538-35DA-4519-80E3-47F09B51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79152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1">
                <a:solidFill>
                  <a:srgbClr val="1C93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C93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C93B8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CD2DFC-218F-4C71-8DC2-5804FA57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8001000"/>
            <a:ext cx="2609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2F9DD"/>
          </a:solidFill>
          <a:ln xmlns:a="http://schemas.openxmlformats.org/drawingml/2006/main" w="9525">
            <a:solidFill>
              <a:srgbClr val="719C1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794CDA-14A2-43C2-BB9A-477E6645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800100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9C16"/>
          </a:solidFill>
          <a:ln xmlns:a="http://schemas.openxmlformats.org/drawingml/2006/main" w="0">
            <a:solidFill>
              <a:srgbClr val="719C1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8D1E86-C3D3-46CF-87BC-B3E4359C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8067675"/>
            <a:ext cx="2362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SCORING + SAFE APPLY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56A6E2-DB20-4FD6-8BD4-8B58EC04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8277225"/>
            <a:ext cx="236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2537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5375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53752"/>
                </a:solidFill>
                <a:latin typeface="Arial"/>
                <a:ea typeface="Arial"/>
                <a:cs typeface="Arial"/>
              </a:rPr>
              <a:t>Weighted score, risk floors + action plan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3E2C264-15DD-4234-B1B2-D38A0AEE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8677275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350" b="1">
                <a:solidFill>
                  <a:srgbClr val="1C93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1C93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C93B8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50CA0A5-3B42-44C3-94FB-4062A2D8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8763000"/>
            <a:ext cx="2609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2763A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C36A46D-64BC-417D-A5AC-A6AB2A32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8763000"/>
            <a:ext cx="47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63A5"/>
          </a:solidFill>
          <a:ln xmlns:a="http://schemas.openxmlformats.org/drawingml/2006/main" w="0">
            <a:solidFill>
              <a:srgbClr val="2763A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7DF0A5-E653-4F56-964A-64E6406D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8829675"/>
            <a:ext cx="2362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0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9DBAF55-D03B-4895-A170-EE5D0990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9039225"/>
            <a:ext cx="236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0">
                <a:solidFill>
                  <a:srgbClr val="2537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25375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253752"/>
                </a:solidFill>
                <a:latin typeface="Arial"/>
                <a:ea typeface="Arial"/>
                <a:cs typeface="Arial"/>
              </a:rPr>
              <a:t>Risk band + redacted findings • offline fallback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A835EC2-FADE-4A4B-BE58-FFC9FF6F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983932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93B8"/>
          </a:solidFill>
          <a:ln xmlns:a="http://schemas.openxmlformats.org/drawingml/2006/main" w="0">
            <a:solidFill>
              <a:srgbClr val="1C93B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AA17448-CF4B-4514-AB93-336FCAE1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9810750"/>
            <a:ext cx="2638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WORKING METHOD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29B15EF-AD26-436F-AB01-0703B6CB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0210800"/>
            <a:ext cx="280035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0">
                <a:solidFill>
                  <a:srgbClr val="2537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25375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53752"/>
                </a:solidFill>
                <a:latin typeface="Arial"/>
                <a:ea typeface="Arial"/>
                <a:cs typeface="Arial"/>
              </a:rPr>
              <a:t>1  Accept a URL, pasted listing, or recruiter message.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25375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53752"/>
                </a:solidFill>
                <a:latin typeface="Arial"/>
                <a:ea typeface="Arial"/>
                <a:cs typeface="Arial"/>
              </a:rPr>
              <a:t>2  Inspect URLs with SSRF protections; analyse page text when 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25375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53752"/>
                </a:solidFill>
                <a:latin typeface="Arial"/>
                <a:ea typeface="Arial"/>
                <a:cs typeface="Arial"/>
              </a:rPr>
              <a:t>3  Match linguistic and behavioural red flags; assess URL structure, technical signals and employer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25375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53752"/>
                </a:solidFill>
                <a:latin typeface="Arial"/>
                <a:ea typeface="Arial"/>
                <a:cs typeface="Arial"/>
              </a:rPr>
              <a:t>4  Aggregate findings, apply behaviour-based risk floors, and produce cited guidance.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233F820-BBE1-4F4E-BD92-54B268AB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3144500"/>
            <a:ext cx="28003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2544"/>
          </a:solidFill>
          <a:ln xmlns:a="http://schemas.openxmlformats.org/drawingml/2006/main" w="0">
            <a:solidFill>
              <a:srgbClr val="10254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DAB6AD4-5F44-4651-B9B0-870F12C42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3268325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1">
                <a:solidFill>
                  <a:srgbClr val="B8E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B8E84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8E84D"/>
                </a:solidFill>
                <a:latin typeface="Arial"/>
                <a:ea typeface="Arial"/>
                <a:cs typeface="Arial"/>
              </a:rPr>
              <a:t>SCORING WEIGHTS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2BD3F7F-6734-480C-A63C-597B3DA3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3535025"/>
            <a:ext cx="2514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Linguistic 35 • Behaviour 30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Domain 15 • Technical 10</a:t>
            </a:r>
          </a:p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Employer 10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3D070EB-229C-46B8-839B-7947D6E3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02907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93B8"/>
          </a:solidFill>
          <a:ln xmlns:a="http://schemas.openxmlformats.org/drawingml/2006/main" w="0">
            <a:solidFill>
              <a:srgbClr val="1C93B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4900B4A-CBD5-44AB-B6B6-A1072F3C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000500"/>
            <a:ext cx="2638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SOFTWARE REQUIREMENTS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F7CC345-B89D-4A49-8EF7-52F5126F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00550"/>
            <a:ext cx="280035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2537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537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53752"/>
                </a:solidFill>
                <a:latin typeface="Arial"/>
                <a:ea typeface="Arial"/>
                <a:cs typeface="Arial"/>
              </a:rPr>
              <a:t>LANGUAGES</a:t>
            </a:r>
          </a:p>
          <a:p xmlns:a="http://schemas.openxmlformats.org/drawingml/2006/main">
            <a:pPr algn="l">
              <a:defRPr sz="1350" b="0">
                <a:solidFill>
                  <a:srgbClr val="2537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53752"/>
                </a:solidFill>
                <a:latin typeface="Arial"/>
                <a:ea typeface="Arial"/>
                <a:cs typeface="Arial"/>
              </a:rPr>
              <a:t>TypeScript, JavaScript (ES modules), HTML, CSS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2537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53752"/>
                </a:solidFill>
                <a:latin typeface="Arial"/>
                <a:ea typeface="Arial"/>
                <a:cs typeface="Arial"/>
              </a:rPr>
              <a:t>FRONTEND</a:t>
            </a:r>
          </a:p>
          <a:p xmlns:a="http://schemas.openxmlformats.org/drawingml/2006/main">
            <a:pPr algn="l">
              <a:defRPr sz="1350" b="0">
                <a:solidFill>
                  <a:srgbClr val="2537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53752"/>
                </a:solidFill>
                <a:latin typeface="Arial"/>
                <a:ea typeface="Arial"/>
                <a:cs typeface="Arial"/>
              </a:rPr>
              <a:t>React 18 • Vite 5 • lucide-react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2537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53752"/>
                </a:solidFill>
                <a:latin typeface="Arial"/>
                <a:ea typeface="Arial"/>
                <a:cs typeface="Arial"/>
              </a:rPr>
              <a:t>BACKEND</a:t>
            </a:r>
          </a:p>
          <a:p xmlns:a="http://schemas.openxmlformats.org/drawingml/2006/main">
            <a:pPr algn="l">
              <a:defRPr sz="1350" b="0">
                <a:solidFill>
                  <a:srgbClr val="2537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53752"/>
                </a:solidFill>
                <a:latin typeface="Arial"/>
                <a:ea typeface="Arial"/>
                <a:cs typeface="Arial"/>
              </a:rPr>
              <a:t>Node.js 18+ • Express 4 • CORS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2537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53752"/>
                </a:solidFill>
                <a:latin typeface="Arial"/>
                <a:ea typeface="Arial"/>
                <a:cs typeface="Arial"/>
              </a:rPr>
              <a:t>DEVELOPMENT</a:t>
            </a:r>
          </a:p>
          <a:p xmlns:a="http://schemas.openxmlformats.org/drawingml/2006/main">
            <a:pPr algn="l">
              <a:defRPr sz="1350" b="0">
                <a:solidFill>
                  <a:srgbClr val="2537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53752"/>
                </a:solidFill>
                <a:latin typeface="Arial"/>
                <a:ea typeface="Arial"/>
                <a:cs typeface="Arial"/>
              </a:rPr>
              <a:t>VS Code (IDE) • npm • modern web browser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2537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53752"/>
                </a:solidFill>
                <a:latin typeface="Arial"/>
                <a:ea typeface="Arial"/>
                <a:cs typeface="Arial"/>
              </a:rPr>
              <a:t>DATA &amp; PRIVACY</a:t>
            </a:r>
          </a:p>
          <a:p xmlns:a="http://schemas.openxmlformats.org/drawingml/2006/main">
            <a:pPr algn="l">
              <a:defRPr sz="1350" b="0">
                <a:solidFill>
                  <a:srgbClr val="2537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53752"/>
                </a:solidFill>
                <a:latin typeface="Arial"/>
                <a:ea typeface="Arial"/>
                <a:cs typeface="Arial"/>
              </a:rPr>
              <a:t>No database required. Scan history stays in browser localStorage; backend keeps anonymised aggregate counters in memory. Sensitive evidence is redacted.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559BC19-4447-427E-95E2-3B804C05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8772525"/>
            <a:ext cx="57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93B8"/>
          </a:solidFill>
          <a:ln xmlns:a="http://schemas.openxmlformats.org/drawingml/2006/main" w="0">
            <a:solidFill>
              <a:srgbClr val="1C93B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43B382E-B3A9-4882-89FF-A052B226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743950"/>
            <a:ext cx="2638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42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BEHAVIOUR-FIRST SCORING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925E8F6-D5B3-4B81-BC8B-EFF3C60C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9144000"/>
            <a:ext cx="2800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0">
                <a:solidFill>
                  <a:srgbClr val="2537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25375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53752"/>
                </a:solidFill>
                <a:latin typeface="Arial"/>
                <a:ea typeface="Arial"/>
                <a:cs typeface="Arial"/>
              </a:rPr>
              <a:t>The score combines five evidence groups (maximum 100):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8D286E8-CF70-4912-A35C-E500169F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9734550"/>
            <a:ext cx="409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2763A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763A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763A5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9ABD89B-1569-4F5C-9CE7-34C2E7D7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9753600"/>
            <a:ext cx="2324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2537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5375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3752"/>
                </a:solidFill>
                <a:latin typeface="Arial"/>
                <a:ea typeface="Arial"/>
                <a:cs typeface="Arial"/>
              </a:rPr>
              <a:t>Linguistic signals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D29C24C-6DF4-46AD-852E-32C236D9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005840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7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1ABA762-4F69-4C11-A200-FE32B04A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0191750"/>
            <a:ext cx="409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1C93B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C93B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C93B8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B3D8B20-544D-4CB7-BE09-D29B5476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0210800"/>
            <a:ext cx="2324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2537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5375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3752"/>
                </a:solidFill>
                <a:latin typeface="Arial"/>
                <a:ea typeface="Arial"/>
                <a:cs typeface="Arial"/>
              </a:rPr>
              <a:t>Recruitment behaviour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47AC122-7A51-4971-BACB-8667624B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051560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7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3322EAD-6FB7-43A4-8ECD-1FEBD71E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0648950"/>
            <a:ext cx="409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F2A3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F2A3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2A33A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3106F53-FE46-4986-A48A-140E15B6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0668000"/>
            <a:ext cx="2324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2537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5375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3752"/>
                </a:solidFill>
                <a:latin typeface="Arial"/>
                <a:ea typeface="Arial"/>
                <a:cs typeface="Arial"/>
              </a:rPr>
              <a:t>URL and domain structure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F0FC679-3E41-4AD2-B51E-339C1AAE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097280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7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47AF90D-0866-408B-B71D-FE04F917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1106150"/>
            <a:ext cx="409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5368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53688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3688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5C4AA68-2AC6-4BCD-A3F9-99F6C32A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1125200"/>
            <a:ext cx="2324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2537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5375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3752"/>
                </a:solidFill>
                <a:latin typeface="Arial"/>
                <a:ea typeface="Arial"/>
                <a:cs typeface="Arial"/>
              </a:rPr>
              <a:t>Technical checks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8BDF83A-B46D-4471-8E5D-C16751C0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143000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7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CF0688E-C913-42F7-937B-F1DBD2E0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1563350"/>
            <a:ext cx="4095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650" b="1">
                <a:solidFill>
                  <a:srgbClr val="719C1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719C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719C1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0A7C379-A70C-46BC-A1E0-6D56A019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1582400"/>
            <a:ext cx="2324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25375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25375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53752"/>
                </a:solidFill>
                <a:latin typeface="Arial"/>
                <a:ea typeface="Arial"/>
                <a:cs typeface="Arial"/>
              </a:rPr>
              <a:t>Employer evidence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C0BC76D-B2A5-4036-8371-8E6E2662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188720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7E7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126E812-A74C-4AF6-AC5A-825E4AC4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2192000"/>
            <a:ext cx="280035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102544"/>
          </a:solidFill>
          <a:ln xmlns:a="http://schemas.openxmlformats.org/drawingml/2006/main" w="0">
            <a:solidFill>
              <a:srgbClr val="102544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22A0A3B-61F2-474A-BAD7-C466968B9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2353925"/>
            <a:ext cx="247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>
                <a:solidFill>
                  <a:srgbClr val="B8E8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B8E84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E84D"/>
                </a:solidFill>
                <a:latin typeface="Arial"/>
                <a:ea typeface="Arial"/>
                <a:cs typeface="Arial"/>
              </a:rPr>
              <a:t>RISK FLOORS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C6788F0-9B16-4C14-AD1F-2BADBA7D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2668250"/>
            <a:ext cx="247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OTP / UPI PIN request → floor 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Job fee demand → floor 65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Multiple credential requests → floor 60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403969F-DACD-4966-A2EF-0753E385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78000"/>
            <a:ext cx="9544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E7"/>
          </a:solidFill>
          <a:ln xmlns:a="http://schemas.openxmlformats.org/drawingml/2006/main" w="0">
            <a:solidFill>
              <a:srgbClr val="C9D7E7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ACAB5B3-4442-49E8-9E15-3318DAD3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601825"/>
            <a:ext cx="954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>
            <a:defPPr algn="ctr">
              <a:defRPr sz="1125" b="0">
                <a:solidFill>
                  <a:srgbClr val="5368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5368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883"/>
                </a:solidFill>
                <a:latin typeface="Arial"/>
                <a:ea typeface="Arial"/>
                <a:cs typeface="Arial"/>
              </a:rPr>
              <a:t>JobShield provides a heuristic risk score, not a probability or guarantee. Verify employers independently before sharing information.</a:t>
            </a:r>
          </a:p>
        </p:txBody>
      </p:sp>
    </p:spTree>
    <p:extLst>
      <p:ext uri="{BB962C8B-B14F-4D97-AF65-F5344CB8AC3E}">
        <p14:creationId xmlns:p14="http://schemas.microsoft.com/office/powerpoint/2010/main" val="19412646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2026-10-09T14:18:49.2620000Z</dcterms:created>
  <dcterms:modified xsi:type="dcterms:W3CDTF">2026-10-09T14:18:49.2620000Z</dcterms:modified>
</coreProperties>
</file>